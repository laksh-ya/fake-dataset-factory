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 Score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Flow Match v2</c:v>
                  </c:pt>
                  <c:pt idx="1">
                    <c:v>DDPM</c:v>
                  </c:pt>
                  <c:pt idx="2">
                    <c:v>WGAN-GP</c:v>
                  </c:pt>
                  <c:pt idx="3">
                    <c:v>DCGAN</c:v>
                  </c:pt>
                  <c:pt idx="4">
                    <c:v>VQ-VAE</c:v>
                  </c:pt>
                  <c:pt idx="5">
                    <c:v>Stable Diff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</c:v>
                </c:pt>
                <c:pt idx="1">
                  <c:v>8.96</c:v>
                </c:pt>
                <c:pt idx="2">
                  <c:v>11.1</c:v>
                </c:pt>
                <c:pt idx="3">
                  <c:v>15.24</c:v>
                </c:pt>
                <c:pt idx="4">
                  <c:v>46.59</c:v>
                </c:pt>
                <c:pt idx="5">
                  <c:v>94.71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FID score (lower =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7432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DATASET FACTORY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Medical Chest X-Ray Generation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Generative 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77724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CSET419 — Introduction to Generative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Lakshya Rathi  ·  Bennett University  ·  March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017520"/>
            <a:ext cx="2194560" cy="1463040"/>
          </a:xfrm>
          <a:prstGeom prst="rect">
            <a:avLst>
              <a:gd name="adj" fmla="val 6250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200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6.20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Medical Imaging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chest X-rays requires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equipment &amp; expert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 annotation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7432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6012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2286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is protected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&amp; similar regulations,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open sharing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432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96012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conditions are severely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underrepresented — 2.9:1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pneumonia-to-normal ratio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315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Synthetic Data Generation — unlimited labeled images, no privacy concerns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2560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Chest X-Ray Dataset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4173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508760"/>
            <a:ext cx="132588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53619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13716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361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14173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20240" y="1892808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1920240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92808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9202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3,875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276856"/>
            <a:ext cx="141732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04288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20240" y="2276856"/>
            <a:ext cx="132588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2304288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2276856"/>
            <a:ext cx="1371600" cy="36576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3042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660904"/>
            <a:ext cx="14173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8833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920240" y="2660904"/>
            <a:ext cx="13258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920240" y="2688336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1,575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26480" y="2660904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268833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4,265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4114800" cy="5943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301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Class imbalance: 2.89:1 pneumonia ratio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914400"/>
            <a:ext cx="411480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46320" y="152704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1527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15087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64×64 pixels (LANCZOS)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46320" y="200253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002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19842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grayscale (1 channel)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846320" y="247802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2478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24597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[-1, 1] for GANs/diffusion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846320" y="295351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953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29352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[0, 1] for VQ-VAE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4846320" y="342900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4290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34107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Published: lakshyarathi/lungpp on Kaggle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737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Generative Models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GAN baselines (2014) to modern flow matching (2022)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Generation Engines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6916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241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·  FID: 94.71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img2img, pretrained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94.71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43200" cy="16916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241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 ·  FID: 15.24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baseline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2176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15.24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914400"/>
            <a:ext cx="2743200" cy="1691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0241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WGAN-GP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4356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 ·  FID: 11.10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+ GP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2176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11.10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7E22C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9443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VQ-VAE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 ·  FID: 46.59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7033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Codebook, no prior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46.59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743200" cy="16916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29443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33756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 ·  FID: 8.96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7033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timesteps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3756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8.96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743200" cy="16916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9443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 v2 ★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33558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 ·  FID: 6.20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37033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 + EMA — BEST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09360" y="4096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6.20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WGAN-GP vs DCGAN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5661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60120"/>
            <a:ext cx="44805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005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Distance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31920" y="1051560"/>
            <a:ext cx="365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051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463040"/>
            <a:ext cx="3566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Clipping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463040"/>
            <a:ext cx="4480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5087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Penalty (λ=10)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1554480"/>
            <a:ext cx="365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5544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35661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in 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1965960"/>
            <a:ext cx="44805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011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InstanceNorm in Critic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931920" y="2057400"/>
            <a:ext cx="365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057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468880"/>
            <a:ext cx="3566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14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0" y="2468880"/>
            <a:ext cx="4480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2514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raw score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931920" y="2560320"/>
            <a:ext cx="365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2560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971800"/>
            <a:ext cx="35661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critic/gen step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2971800"/>
            <a:ext cx="448056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389120" y="3017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critic/gen step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931920" y="3063240"/>
            <a:ext cx="365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0" y="3063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474720"/>
            <a:ext cx="3566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3520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15.24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297680" y="3474720"/>
            <a:ext cx="448056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7" name="Text 35"/>
          <p:cNvSpPr/>
          <p:nvPr/>
        </p:nvSpPr>
        <p:spPr>
          <a:xfrm>
            <a:off x="4389120" y="35204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11.10  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931920" y="3566160"/>
            <a:ext cx="36576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0" y="3566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685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297680" y="685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WGAN-GP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178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Gradient penalty enforces Lipschitz smoothness without weight clipping artifacts — enables stable training on small datasets with no mode collapse.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v2 — Best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2801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6.20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023360" cy="155448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OT-CFM (σ=0)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optimal-transport paths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→ Data in 10 ODE steps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1000 diffusion timesteps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023360" cy="155448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Self-Attention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920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16×16 and 8×8 resolutions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long-range anatomy: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 structures, lung boundaries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4023360" cy="155448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310896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EMA (0.999)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moving average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effective weights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stochastic noise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3108960"/>
            <a:ext cx="4023360" cy="155448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10896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Adaptive 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dopri5 solver (rtol=1e-5)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fixed Euler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step control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FID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FID: Inception V3 (ImageNet)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irrelevant features for medical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396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DenseNet121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249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torchxrayvision pretrained on: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NIH ChestX-ray14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CheXpert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027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MIMIC-CXR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Kaggle Pneumonia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11480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914400"/>
            <a:ext cx="41148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TSTR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TSTR = train classifier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data, test on real data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use pretrained xrv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Lung Opacity score &gt; 0.5 passes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models score 100% TSTR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 discriminative — texture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not diagnostic quality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325112"/>
            <a:ext cx="8412480" cy="5943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is the only discriminative metric in this evaluation. TSTR will be replaced by true Train-on-Synthetic-Test-on-Real in future work.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All Models Compared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011680"/>
                <a:gridCol w="640080"/>
                <a:gridCol w="777240"/>
                <a:gridCol w="685800"/>
                <a:gridCol w="3794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TSTR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1FA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Matching v2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1FA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1FA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1FA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D1FA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Attn + EMA + 100 epochs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F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WGAN-GP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Wasserstein + GP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BCE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VQ-VAE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PixelCNN prior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Diffusion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img2img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Score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914400"/>
            <a:ext cx="2743200" cy="3931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0058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508760"/>
            <a:ext cx="6858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150876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67728" y="152704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v2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2313432"/>
            <a:ext cx="6858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31343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67728" y="2331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strong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 epochs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3118104"/>
            <a:ext cx="6858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311810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67728" y="31363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WGAN-GP best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result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3922776"/>
            <a:ext cx="685800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3922776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~10×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67728" y="39410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v2 better than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VQ-VAE and SD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 — Fake Dataset Factory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Fake Dataset Factory  —  Synthetic Medical Chest X-Ray Generation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6.20  Best FID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 Device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1444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Ready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2286000" cy="2880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21031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468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Flow Matching v2 (FID: 6.20)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Pneumonia    Count: 16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21031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55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Images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FID: 6.20    TSTR: 100%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2103120" cy="34747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245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ZIP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34640" y="1965960"/>
            <a:ext cx="5943600" cy="28803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Images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246888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2606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246888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4297680" y="2606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246888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2606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246888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2606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0" y="365760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3794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97680" y="365760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3794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65760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0" y="3794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040880" y="3657600"/>
            <a:ext cx="1234440" cy="105156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379476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4747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Current Limitations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resolution — far below clinical standard (2048×2048+)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 class only — Normal class not trained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140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non-discriminative — 100% for all models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895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 by radiologists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64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— FID on 100 images is noisy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generation normalisation bug (now corrected)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114800" cy="34747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914400"/>
            <a:ext cx="4114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517904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256×256 or 512×512 resolution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199339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938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PixelCNN prior for VQ-VAE generation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46888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4140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Stable Diffusion on chest X-ray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294436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28895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TSTR with trained ResNet50 classifier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3419856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3364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conditional generation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3895344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640080" cy="1645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v2 achieves FID 6.20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state-of-the-art for this 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914400"/>
            <a:ext cx="640080" cy="1645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32588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EMA &gt; more training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matters most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233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834640"/>
            <a:ext cx="640080" cy="1645920"/>
          </a:xfrm>
          <a:prstGeom prst="rect">
            <a:avLst/>
          </a:prstGeom>
          <a:solidFill>
            <a:srgbClr val="7E22CE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429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32461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FID is essential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honest medical image evaluation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02336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834640"/>
            <a:ext cx="640080" cy="16459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429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32461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Kaggle T4 GPU is sufficient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competitive 64×64 results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CSET419 — Bennett University  ·  Lakshya Rathi  ·  March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Dataset Factory</dc:title>
  <dc:subject>PptxGenJS Presentation</dc:subject>
  <dc:creator>Lakshya Rathi</dc:creator>
  <cp:lastModifiedBy>Lakshya Rathi</cp:lastModifiedBy>
  <cp:revision>1</cp:revision>
  <dcterms:created xsi:type="dcterms:W3CDTF">2026-03-24T23:16:00Z</dcterms:created>
  <dcterms:modified xsi:type="dcterms:W3CDTF">2026-03-24T23:16:00Z</dcterms:modified>
</cp:coreProperties>
</file>